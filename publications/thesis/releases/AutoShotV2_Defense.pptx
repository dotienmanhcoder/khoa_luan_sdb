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5669280"/>
            <a:ext cx="731520" cy="7315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KHÓA LUẬN TỐT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HCMUS  |  Khoa CNTT</a:t>
            </a:r>
          </a:p>
        </p:txBody>
      </p:sp>
      <p:pic>
        <p:nvPicPr>
          <p:cNvPr id="7" name="Picture 6" descr="logo-kh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03178"/>
            <a:ext cx="1463040" cy="1149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4630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Calibri"/>
              </a:rPr>
              <a:t>PHÁT HIỆN RANH GIỚI
CẢNH QUAY DỰA TRÊN
MÔ HÌNH HỌC SÂU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4160520"/>
            <a:ext cx="1828800" cy="0"/>
          </a:xfrm>
          <a:prstGeom prst="line">
            <a:avLst/>
          </a:prstGeom>
          <a:ln w="2540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434340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Sinh viên thực hiện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Tặng Sềnh Mành — 22120202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83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Đỗ Tiến Mạnh — 22120203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48640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Giảng viên hướng dẫn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TS. Trần Thái Sơn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3093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Calibri"/>
              </a:rPr>
              <a:t>TP. Hồ Chí Minh  •  Tháng 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MỤC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Nội dung trình bày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Giới thiệu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67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Bối cảnh, bài toán, đóng góp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517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Công trình liên quan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449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Từ cổ điển đến 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Phương pháp đề xuất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221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AutoShotV2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Thực nghiệm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994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Dữ liệu, kết quả, ablation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83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Kết luận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766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Đóng góp, hạn chế,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Tóm tắt một trang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3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853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video trong tập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11.606 nhãn • 960.794 khung hình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F1 của AutoShotV2 trên 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đạt trạng thái tốt nhất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+5.5%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cải thiện so với TransNetV2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+1.4% so với AutoShot gốc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45"/>
                </a:solidFill>
                <a:latin typeface="Calibri"/>
              </a:rPr>
              <a:t>Đóng góp cốt lõi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Kết hợp Focal Loss + Many-hot labels + Temperature scaling + Gaussian smoothing trên backbone NAS, đóng băng hoàn toàn để huấn luyện lại classification head cho video ngắn.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Bối cảnh &amp; động lực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4 / 27</a:t>
            </a:r>
          </a:p>
        </p:txBody>
      </p:sp>
      <p:pic>
        <p:nvPicPr>
          <p:cNvPr id="10" name="Picture 9" descr="tang_truong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8320"/>
            <a:ext cx="6400800" cy="426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Short-form bùng nổ: </a:t>
            </a:r>
            <a:r>
              <a:rPr sz="1600">
                <a:solidFill>
                  <a:srgbClr val="1F2A44"/>
                </a:solidFill>
                <a:latin typeface="Calibri"/>
              </a:rPr>
              <a:t>TikTok, Reels, Shorts chiếm lĩnh nội dung số.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Nhu cầu phân tích tự động: </a:t>
            </a:r>
            <a:r>
              <a:rPr sz="1600">
                <a:solidFill>
                  <a:srgbClr val="1F2A44"/>
                </a:solidFill>
                <a:latin typeface="Calibri"/>
              </a:rPr>
              <a:t>chỉ mục, đề xuất, kiểm duyệt, quảng cáo.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Shot Boundary Detection (SBD): </a:t>
            </a:r>
            <a:r>
              <a:rPr sz="1600">
                <a:solidFill>
                  <a:srgbClr val="1F2A44"/>
                </a:solidFill>
                <a:latin typeface="Calibri"/>
              </a:rPr>
              <a:t>bước nền cho hầu hết pipeline phân tích video.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Phương pháp cũ lệch miền: </a:t>
            </a:r>
            <a:r>
              <a:rPr sz="1600">
                <a:solidFill>
                  <a:srgbClr val="1F2A44"/>
                </a:solidFill>
                <a:latin typeface="Calibri"/>
              </a:rPr>
              <a:t>hiệu năng giảm mạnh trên video ngắn.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Bài toán Shot Boundary Detection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5 / 27</a:t>
            </a:r>
          </a:p>
        </p:txBody>
      </p:sp>
      <p:pic>
        <p:nvPicPr>
          <p:cNvPr id="10" name="Picture 9" descr="video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96444"/>
            <a:ext cx="5943600" cy="26709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828800"/>
            <a:ext cx="4846320" cy="18288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Định nghĩa hình thức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860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Input:  V = {f₁, f₂, …, fₙ}
Output: B = {b₁, b₂, …, bₘ}
              + loại chuyển cảnh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Hai loại chuyển cảnh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434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Cut: </a:t>
            </a:r>
            <a:r>
              <a:rPr sz="1400">
                <a:solidFill>
                  <a:srgbClr val="1F2A44"/>
                </a:solidFill>
                <a:latin typeface="Calibri"/>
              </a:rPr>
              <a:t>ranh giới đột ngột giữa 2 khung hình liên tiếp.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Gradual: </a:t>
            </a:r>
            <a:r>
              <a:rPr sz="1400">
                <a:solidFill>
                  <a:srgbClr val="1F2A44"/>
                </a:solidFill>
                <a:latin typeface="Calibri"/>
              </a:rPr>
              <a:t>fade, dissolve, wipe — thay đổi trên nhiều khung.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Minh họa các loại chuyển cảnh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6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ut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29903"/>
            <a:ext cx="2423160" cy="3466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Đổi đột ngột giữa 2 khung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726200"/>
            <a:ext cx="2423160" cy="3540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42900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Dissolve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Hòa trộn tuyến tính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de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29181"/>
            <a:ext cx="2423160" cy="34807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30936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Fade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Xuất hiện / biến mất dần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234" y="1965960"/>
            <a:ext cx="2332451" cy="18745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18972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Wipe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Quét ranh giới hình học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Thách thức riêng của video ngắn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7 / 27</a:t>
            </a:r>
          </a:p>
        </p:txBody>
      </p:sp>
      <p:pic>
        <p:nvPicPr>
          <p:cNvPr id="10" name="Picture 9" descr="tikt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341" y="1691640"/>
            <a:ext cx="1076598" cy="2331720"/>
          </a:xfrm>
          <a:prstGeom prst="rect">
            <a:avLst/>
          </a:prstGeom>
        </p:spPr>
      </p:pic>
      <p:pic>
        <p:nvPicPr>
          <p:cNvPr id="11" name="Picture 10" descr="fl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87" y="4114800"/>
            <a:ext cx="3071505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169164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Shot dày đặc: </a:t>
            </a:r>
            <a:r>
              <a:rPr sz="1600">
                <a:solidFill>
                  <a:srgbClr val="1F2A44"/>
                </a:solidFill>
                <a:latin typeface="Calibri"/>
              </a:rPr>
              <a:t>trung bình 2,59 s / shot (vs 6–15 s truyền thống).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Hiệu ứng phức tạp: </a:t>
            </a:r>
            <a:r>
              <a:rPr sz="1600">
                <a:solidFill>
                  <a:srgbClr val="1F2A44"/>
                </a:solidFill>
                <a:latin typeface="Calibri"/>
              </a:rPr>
              <a:t>gradual chồng lớp, hiệu ứng editor đa dạng.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Khung dọc có viền tĩnh: </a:t>
            </a:r>
            <a:r>
              <a:rPr sz="1600">
                <a:solidFill>
                  <a:srgbClr val="1F2A44"/>
                </a:solidFill>
                <a:latin typeface="Calibri"/>
              </a:rPr>
              <a:t>cấu trúc ba phần gây nhầm lẫn cho SBD.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Flash &amp; camera motion: </a:t>
            </a:r>
            <a:r>
              <a:rPr sz="1600">
                <a:solidFill>
                  <a:srgbClr val="1F2A44"/>
                </a:solidFill>
                <a:latin typeface="Calibri"/>
              </a:rPr>
              <a:t>tạo false positive khó phân biệt.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Nội dung ảo / game: </a:t>
            </a:r>
            <a:r>
              <a:rPr sz="1600">
                <a:solidFill>
                  <a:srgbClr val="1F2A44"/>
                </a:solidFill>
                <a:latin typeface="Calibri"/>
              </a:rPr>
              <a:t>biến đổi thị giác ngay trong một 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Câu hỏi nghiên cứu &amp; đóng góp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8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CÂU HỎI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28600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2860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NAS có giúp kiến trúc vượt trội so với backbone cố định trên video ngắn?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6616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Các kỹ thuật head + hậu xử lý (Focal, many-hot, temp scaling, Gaussian) có cải thiện F1 mà không đổi backbone?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463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Cải tiến trên SHOT có tổng quát hóa sang BBC / ClipShots?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ĐÓNG GÓP CHÍNH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286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86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Tổng quan có hệ thống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6974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SBD cổ điển → deep learning → NAS.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Pipeline AutoShotV2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776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Focal Loss, many-hot, temp scaling, Gaussian trên backbone NAS đóng băng.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46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846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Đánh giá đa miền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25780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SHOT, BBC, ClipShots — phân tích tổng quát hóa.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Tiến hóa các phương pháp SBD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9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Pre-2016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Cổ điển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017520"/>
            <a:ext cx="1143000" cy="0"/>
          </a:xfrm>
          <a:prstGeom prst="line">
            <a:avLst/>
          </a:prstGeom>
          <a:ln w="317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Histogram • pixel diff •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Nhẹ, trực quan nhưng kém tổng quát hóa.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828800"/>
            <a:ext cx="3657600" cy="4572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2017 –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Deep Learning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017520"/>
            <a:ext cx="1143000" cy="0"/>
          </a:xfrm>
          <a:prstGeom prst="line">
            <a:avLst/>
          </a:prstGeom>
          <a:ln w="3175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C3D (DeepSBD) • TransNetV2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Học đặc trưng không – thời gian; mạnh trên phim dài.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2023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NAS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6760" y="3017520"/>
            <a:ext cx="1143000" cy="0"/>
          </a:xfrm>
          <a:prstGeom prst="line">
            <a:avLst/>
          </a:prstGeom>
          <a:ln w="3175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 • AutoShotV2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Tự tìm kiến trúc tối ưu cho short-form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TransNetV2 &amp; AutoShot —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10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923544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385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BBC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3852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ClipShots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385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92354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41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4144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44144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0.962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441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4414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Tối ưu cho phim dài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34640"/>
            <a:ext cx="9235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443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9443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9443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0.971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94436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94436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NAS cho short-form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5FFF"/>
                </a:solidFill>
                <a:latin typeface="Calibri"/>
              </a:rPr>
              <a:t>Nhận xét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TransNetV2 tối ưu cho phim dài: </a:t>
            </a:r>
            <a:r>
              <a:rPr sz="1500">
                <a:solidFill>
                  <a:srgbClr val="1F2A44"/>
                </a:solidFill>
                <a:latin typeface="Calibri"/>
              </a:rPr>
              <a:t>F1 giảm khi chuyển sang video ngắn.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AutoShot (NAS) vượt baseline </a:t>
            </a:r>
            <a:r>
              <a:rPr sz="1500">
                <a:solidFill>
                  <a:srgbClr val="1F2A44"/>
                </a:solidFill>
                <a:latin typeface="Calibri"/>
              </a:rPr>
              <a:t>+4,2% trên SHOT — cho thấy NAS phù hợp với miền short-form.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Vẫn còn dư địa: </a:t>
            </a:r>
            <a:r>
              <a:rPr sz="1500">
                <a:solidFill>
                  <a:srgbClr val="1F2A44"/>
                </a:solidFill>
                <a:latin typeface="Calibri"/>
              </a:rPr>
              <a:t>head classification và hậu xử lý chưa được khai thác hệ thống.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Khoảng trống nghiên cứu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11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0312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Domain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14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Bộ dữ liệu truyền thống (BBC, RAI) có đặc trưng khác hẳn short-form video hiện đại.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Tổng quát hóa đa miền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40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F1 cao trên SHOT không đảm bảo F1 cao trên BBC hay ClipShots.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5488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Head &amp; post-processing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1663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Ít nghiên cứu hệ thống về classification head + hiệu chỉnh xác suất + làm mượt thời gian.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7A45"/>
                </a:solidFill>
                <a:latin typeface="Calibri"/>
              </a:rPr>
              <a:t>→ AutoShotV2 tập trung lấp khoảng trống thứ ba, đồng thời đo kiểm tổng quát hóa.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Kiến trúc tổng quan AutoShot / AutoShotV2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12 / 27</a:t>
            </a:r>
          </a:p>
        </p:txBody>
      </p:sp>
      <p:pic>
        <p:nvPicPr>
          <p:cNvPr id="10" name="Picture 9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39" y="1645920"/>
            <a:ext cx="659768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Pipeline 4 giai đoạn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566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Input: </a:t>
            </a:r>
            <a:r>
              <a:rPr sz="1400">
                <a:solidFill>
                  <a:srgbClr val="1F2A44"/>
                </a:solidFill>
                <a:latin typeface="Calibri"/>
              </a:rPr>
              <a:t>chuỗi khung hình video.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Backbone: </a:t>
            </a:r>
            <a:r>
              <a:rPr sz="1400">
                <a:solidFill>
                  <a:srgbClr val="1F2A44"/>
                </a:solidFill>
                <a:latin typeface="Calibri"/>
              </a:rPr>
              <a:t>3D CNN + Transformer (tìm bằng NAS).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Head: </a:t>
            </a:r>
            <a:r>
              <a:rPr sz="1400">
                <a:solidFill>
                  <a:srgbClr val="1F2A44"/>
                </a:solidFill>
                <a:latin typeface="Calibri"/>
              </a:rPr>
              <a:t>dự đoán xác suất boundary.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Post-proc: </a:t>
            </a:r>
            <a:r>
              <a:rPr sz="1400">
                <a:solidFill>
                  <a:srgbClr val="1F2A44"/>
                </a:solidFill>
                <a:latin typeface="Calibri"/>
              </a:rPr>
              <a:t>smoothing + ngưỡng hóa → boundary.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Neural Architecture 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13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303520" cy="45720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Không gian tìm kiếm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0B5FFF"/>
                </a:solidFill>
                <a:latin typeface="Calibri"/>
              </a:rPr>
              <a:t>83,9 triệu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kiến trúc ứng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= 4 biến thể DDCNNV2 × 6 block stack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480560"/>
            <a:ext cx="493776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6177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Hybrid: </a:t>
            </a:r>
            <a:r>
              <a:rPr sz="1300">
                <a:solidFill>
                  <a:srgbClr val="1F2A44"/>
                </a:solidFill>
                <a:latin typeface="Calibri"/>
              </a:rPr>
              <a:t>3D CNN + Transformer block.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DDCNNV2: </a:t>
            </a:r>
            <a:r>
              <a:rPr sz="1300">
                <a:solidFill>
                  <a:srgbClr val="1F2A44"/>
                </a:solidFill>
                <a:latin typeface="Calibri"/>
              </a:rPr>
              <a:t>dilated conv + kernel factorization.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Ba thành phần của NAS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317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Search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Tập hợp kiến trúc có thể tạo ra (83,9 M).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033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Search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One-shot SuperNet: chia sẻ trọng số giữa các ứng viên.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749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Performance Estimation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Early stopping + gradient-based refinement để đánh giá nhanh.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AutoShotV2 — cải tiến hàm mất mát &amp; nhãn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14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0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FOCAL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FL(p) = −α (1 − p)^γ log(p)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γ = 1.0, α = 0.5   (grid search)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Giảm trọng số cho khung non-boundary (dễ).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Tập trung học trên mẫu hard / boundary hiếm.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Giải quyết mất cân bằng lớp nặng của SBD.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MANY-HOT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[…, 0, 0.5, 1.0, 0.5, 0, …]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thay vì {0, 1} cứng tại ranh giới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Nhãn mềm quanh biên giúp mô hình học chuyển tiếp mượt.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Giảm penalty khi dự đoán lệch 1 khung.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Kết hợp song song với one-hot trong head hai đầu 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Hiệu chỉnh xác suất &amp; hậu xử lý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15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0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TEMPERATURE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p = σ(z / 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Học T trên validation để confidence khớp tần suất đúng.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Ngưỡng tối ưu dịch: </a:t>
            </a:r>
            <a:r>
              <a:rPr sz="1400">
                <a:solidFill>
                  <a:srgbClr val="1F2A44"/>
                </a:solidFill>
                <a:latin typeface="Calibri"/>
              </a:rPr>
              <a:t>0.296 → 0.02.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Phân bố xác suất nhất quán hơn giữa các video.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Dễ dàng hơn cho bước ngưỡng hóa.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GAUSSIAN SMOOTHING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p̃ = Gaussian(p; σ = 2.0)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Tích chập 1-D trên chuỗi xác suất thời gian.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Triệt tiêu false positive đơn lẻ.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Giữ vùng đỉnh liên tục quanh boundary thật.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Đóng góp rõ rệt nhất: </a:t>
            </a:r>
            <a:r>
              <a:rPr sz="1400">
                <a:solidFill>
                  <a:srgbClr val="1F2A44"/>
                </a:solidFill>
                <a:latin typeface="Calibri"/>
              </a:rPr>
              <a:t>+3.02% trên ClipShots.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Chiến lược huấn luyện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16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669280" cy="4114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Chiến lược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5669280" cy="416052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Backbone đóng băng: </a:t>
            </a:r>
            <a:r>
              <a:rPr sz="1400">
                <a:solidFill>
                  <a:srgbClr val="1F2A44"/>
                </a:solidFill>
                <a:latin typeface="Calibri"/>
              </a:rPr>
              <a:t>giữ nguyên trọng số AutoShot.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Chỉ huấn luyện ClassificationHead </a:t>
            </a:r>
            <a:r>
              <a:rPr sz="1400">
                <a:solidFill>
                  <a:srgbClr val="1F2A44"/>
                </a:solidFill>
                <a:latin typeface="Calibri"/>
              </a:rPr>
              <a:t>(input 4864-D).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Warm-up + cosine annealing </a:t>
            </a:r>
            <a:r>
              <a:rPr sz="1400">
                <a:solidFill>
                  <a:srgbClr val="1F2A44"/>
                </a:solidFill>
                <a:latin typeface="Calibri"/>
              </a:rPr>
              <a:t>learning rate.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EMA </a:t>
            </a:r>
            <a:r>
              <a:rPr sz="1400">
                <a:solidFill>
                  <a:srgbClr val="1F2A44"/>
                </a:solidFill>
                <a:latin typeface="Calibri"/>
              </a:rPr>
              <a:t>cho loss và trọng số → ổn định.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Early stopping </a:t>
            </a:r>
            <a:r>
              <a:rPr sz="1400">
                <a:solidFill>
                  <a:srgbClr val="1F2A44"/>
                </a:solidFill>
                <a:latin typeface="Calibri"/>
              </a:rPr>
              <a:t>theo F1 trên validation.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Focal Loss + Many-hot labels </a:t>
            </a:r>
            <a:r>
              <a:rPr sz="1400">
                <a:solidFill>
                  <a:srgbClr val="1F2A44"/>
                </a:solidFill>
                <a:latin typeface="Calibri"/>
              </a:rPr>
              <a:t>kết hợp trong head 2 đầu 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212080" cy="41148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Siêu tham số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4028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50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500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52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8529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Gaussian 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3558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4904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587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Threshold (V2)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8587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5196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3616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LR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361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Warm-up + Cosine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5488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8646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864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Bật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25780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367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Head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367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4864 → 1024 →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AutoShot vs AutoShotV2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17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39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Thành phần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3852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3852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AutoShotV2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414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Backbone 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414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Huấn luyện 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4144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Đóng băng hoàn toàn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44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Classification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9443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Lớp gốc, fc1_0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94436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Head mới (4864 → 1024 →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4728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Loss 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44728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Binary cross-entropy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4728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(γ=1.0, α=0.5)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5020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Label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95020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One-hot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95020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One-hot + Many-hot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531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45312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45312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Temperature scaling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4632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560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Post-processing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9560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95604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Gaussian smoothing (σ=2.0)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49240"/>
            <a:ext cx="11064239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58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F1 trên 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4589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45896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0.855  (+1.4%)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Bộ dữ liệu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18 / 27</a:t>
            </a:r>
          </a:p>
        </p:txBody>
      </p:sp>
      <p:pic>
        <p:nvPicPr>
          <p:cNvPr id="10" name="Picture 9" descr="Anh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78" y="1737360"/>
            <a:ext cx="3336324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82880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853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299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69748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834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11.606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986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nhãn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56616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7033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960.794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67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khung hình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43484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572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39,5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36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độ dài video TB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530352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5440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2,59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5046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độ dài shot TB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Đặc trưng khó của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19 / 27</a:t>
            </a:r>
          </a:p>
        </p:txBody>
      </p:sp>
      <p:pic>
        <p:nvPicPr>
          <p:cNvPr id="10" name="Picture 9" descr="Anh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285" y="1737360"/>
            <a:ext cx="5571909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1828800"/>
            <a:ext cx="3657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Gradual phức tạp: </a:t>
            </a:r>
            <a:r>
              <a:rPr sz="1400">
                <a:solidFill>
                  <a:srgbClr val="1F2A44"/>
                </a:solidFill>
                <a:latin typeface="Calibri"/>
              </a:rPr>
              <a:t>dissolve / wipe chồng nhiều lớp.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Cấu trúc ba phần: </a:t>
            </a:r>
            <a:r>
              <a:rPr sz="1400">
                <a:solidFill>
                  <a:srgbClr val="1F2A44"/>
                </a:solidFill>
                <a:latin typeface="Calibri"/>
              </a:rPr>
              <a:t>viền tĩnh trên–dưới gây nhiễu.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Game / ảo: </a:t>
            </a:r>
            <a:r>
              <a:rPr sz="1400">
                <a:solidFill>
                  <a:srgbClr val="1F2A44"/>
                </a:solidFill>
                <a:latin typeface="Calibri"/>
              </a:rPr>
              <a:t>biến đổi nội bộ shot mạnh.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Camera motion: </a:t>
            </a:r>
            <a:r>
              <a:rPr sz="1400">
                <a:solidFill>
                  <a:srgbClr val="1F2A44"/>
                </a:solidFill>
                <a:latin typeface="Calibri"/>
              </a:rPr>
              <a:t>pan/zoom nhanh giống boundary.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Flash &amp; lighting: </a:t>
            </a:r>
            <a:r>
              <a:rPr sz="1400">
                <a:solidFill>
                  <a:srgbClr val="1F2A44"/>
                </a:solidFill>
                <a:latin typeface="Calibri"/>
              </a:rPr>
              <a:t>thay đổi đột ngột — false positive.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Các bộ dữ liệu đối chứng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20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39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659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Số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Độ dài video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Độ dài shot TB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965960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Đặc trưng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77440"/>
            <a:ext cx="11064239" cy="54864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3288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53288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853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3288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39,5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53288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2,59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53288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Short-form đa nền tảng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110642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8152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BBC Planet Earth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08152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08152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≈ 49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08152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6,57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08152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Phim tài liệu thiên nhiên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11064239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301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RAI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3016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36301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≈ 10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6301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5,65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63016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TV giáo dục 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23360"/>
            <a:ext cx="110642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7880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ClipShots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17880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~500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17880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237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17880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15,34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17880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YouTube/Weibo đa dạng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Nhận xét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SHOT có shot ngắn gấp 2–6 lần so với các bộ truyền thống → miền hoàn toàn khác.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Đánh giá trên cả 4 bộ giúp đo kiểm khả năng tổng quát hóa của mô hình.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Độ đo đánh giá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21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TP / (TP + FP)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Tỉ lệ dự đoán đúng trong số boundary dự đoán.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828800"/>
            <a:ext cx="3657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TP / (TP + FN)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Tỉ lệ boundary thật được phát hiện.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2 · P · R / (P + 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6676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6676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Trung bình điều hòa — độ đo chính của SBD.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45"/>
                </a:solidFill>
                <a:latin typeface="Calibri"/>
              </a:rPr>
              <a:t>Độ đo bổ 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Precision @ Fixed Recall  •  F1 riêng cho Cut vs Gradual  •  Đánh giá chéo SHOT / BBC / ClipShots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quả chính trên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22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943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659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943600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3288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53288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8152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8152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943600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016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AutoShotV1 (+Gaussian)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6301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0.848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5943600" cy="54864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788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AutoShotV2 (3 kỹ thuật)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17880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828800"/>
            <a:ext cx="4937760" cy="32004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965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F1-score trên 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78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468880"/>
            <a:ext cx="1634398" cy="45720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1118" y="25786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644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154680"/>
            <a:ext cx="2320747" cy="4572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7467" y="32644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9502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AutoShotV2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3840480"/>
            <a:ext cx="2543396" cy="4572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0116" y="39502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0.855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55280" y="4526280"/>
            <a:ext cx="3291840" cy="0"/>
          </a:xfrm>
          <a:prstGeom prst="line">
            <a:avLst/>
          </a:prstGeom>
          <a:ln w="9525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5528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2668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0.70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4964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0.75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7260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0.80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24159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95559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0.85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4712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01852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45"/>
                </a:solidFill>
                <a:latin typeface="Calibri"/>
              </a:rPr>
              <a:t>Kết luận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AutoShotV2 đạt F1 = 0.855 — cao nhất trên SHOT, +1.4% so với AutoShot gốc và +5.5% so với TransNetV2.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quả trên BBC &amp; ClipShots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23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832104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ClipShots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83210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4144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4436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 (báo cáo)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83210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4728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 tự chạy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5020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AutoShotV1 (Gaussian)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8321040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4531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AutoShotV2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0.966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0.756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Phân tích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578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Mạnh trên SHOT (miền mục tiêu): </a:t>
            </a:r>
            <a:r>
              <a:rPr sz="1300">
                <a:solidFill>
                  <a:srgbClr val="1F2A44"/>
                </a:solidFill>
                <a:latin typeface="Calibri"/>
              </a:rPr>
              <a:t>F1 tốt nhất (0.855).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Vượt baseline trên BBC: </a:t>
            </a:r>
            <a:r>
              <a:rPr sz="1300">
                <a:solidFill>
                  <a:srgbClr val="1F2A44"/>
                </a:solidFill>
                <a:latin typeface="Calibri"/>
              </a:rPr>
              <a:t>AutoShotV2 (0.966) cao hơn TransNetV2 (0.962) và AutoShot tự chạy (0.955).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Giảm trên ClipShots (−3.1%): </a:t>
            </a:r>
            <a:r>
              <a:rPr sz="1300">
                <a:solidFill>
                  <a:srgbClr val="1F2A44"/>
                </a:solidFill>
                <a:latin typeface="Calibri"/>
              </a:rPr>
              <a:t>post-processing tối ưu cho SHOT chưa chuyển dịch sang miền video web đa dạng.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Ablation &amp; minh họa dự đoán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24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85216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Cấu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93852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F1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93852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Δ vs AutoShot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585216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4144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A1 — BCE + one-hot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44144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0.838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44144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94436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B4 — Temperature + Gaussian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294436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0.854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94436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+1.6%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5852160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4728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B5 — Full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44728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0.854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344728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+1.6%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Quan sát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5852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Gaussian smoothing: </a:t>
            </a:r>
            <a:r>
              <a:rPr sz="1200">
                <a:solidFill>
                  <a:srgbClr val="1F2A44"/>
                </a:solidFill>
                <a:latin typeface="Calibri"/>
              </a:rPr>
              <a:t>cải tiến ổn định nhất qua các miền.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Focal + many-hot + temp: </a:t>
            </a:r>
            <a:r>
              <a:rPr sz="1200">
                <a:solidFill>
                  <a:srgbClr val="1F2A44"/>
                </a:solidFill>
                <a:latin typeface="Calibri"/>
              </a:rPr>
              <a:t>tăng rõ trên SHOT.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Trade-off: </a:t>
            </a:r>
            <a:r>
              <a:rPr sz="1200">
                <a:solidFill>
                  <a:srgbClr val="1F2A44"/>
                </a:solidFill>
                <a:latin typeface="Calibri"/>
              </a:rPr>
              <a:t>cấu hình tối ưu cho SHOT làm giảm ClipShots.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Ví dụ boundary dự đoán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24028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ut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027052"/>
            <a:ext cx="2743200" cy="3924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84080" y="260604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Cut — AutoShotV2 dự đoán đúng (p ≈ 0.93).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43484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217420"/>
            <a:ext cx="2743200" cy="400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84080" y="480060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Dissolve — nhiều khung cùng có p cao; Gaussian giữ đỉnh.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luận &amp; đóng góp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25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Tổng quan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Khảo sát SBD từ phương pháp cổ điển đến 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Pipeline AutoShotV2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Focal + many-hot + temp scaling + Gaussian trên backbone NAS đóng băng.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Hiệu năng vượt trội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F1 = 0.855 trên SHOT — SOTA cho short-form.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45"/>
                </a:solidFill>
                <a:latin typeface="Calibri"/>
              </a:rPr>
              <a:t>Thông điệp chính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Không cần thay đổi backbone — chỉ với classification head + hiệu chỉnh xác suất + hậu xử lý phù hợp, ta đã cải thiện F1 trên video ngắn một cách rõ rệt.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Hạn chế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26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745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Chi phí GPU cho 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Tìm kiếm kiến trúc vẫn tốn hàng chục giờ GPU — khó mở rộng.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748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False positive với flash &amp; motion mạnh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0896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Camera shake / flash vẫn nhầm thành boundary.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118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Recall gradual còn thấp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7764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Chuyển cảnh dần khó hơn cut — cần đặc trưng dài hạn hơn.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Domain shift trên ClipShots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Cấu hình tối ưu cho SHOT giảm F1 trên ClipShots −3.1pp; recall gradual chỉ 4.4% là nút thắt chính.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3492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Không đầy đủ ablation đa miền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71500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Chưa chạy lại ma trận ablation trên tất cả dataset do giới hạn compute.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Hướng phát triển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27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Real-time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Prune • Quantize • Distill cho edge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Multimodal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488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Tích hợp audio + motion vector tăng độ bền vững.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Domain adaptation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9536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Thích ứng đa nền tảng (TikTok ↔ YouTube ↔ phim dài).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Fine-grained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498348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1663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Nhận dạng loại gradual cụ thể (Dissolve vs Wipe).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16052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16052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Self-supervised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54880" y="498348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0" y="51663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Tận dụng video chưa gán nhãn — pretext boundary-aware.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